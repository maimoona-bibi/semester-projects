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56" r:id="rId3"/>
    <p:sldId id="257" r:id="rId4"/>
    <p:sldId id="267" r:id="rId5"/>
    <p:sldId id="259" r:id="rId6"/>
    <p:sldId id="261" r:id="rId7"/>
    <p:sldId id="262" r:id="rId8"/>
    <p:sldId id="263" r:id="rId9"/>
    <p:sldId id="268" r:id="rId10"/>
    <p:sldId id="264" r:id="rId11"/>
    <p:sldId id="269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Quire Sans Pro Light" panose="020B0302040400020003" pitchFamily="34" charset="0"/>
      <p:regular r:id="rId19"/>
      <p:italic r:id="rId20"/>
    </p:embeddedFont>
    <p:embeddedFont>
      <p:font typeface="Roboto Bold" panose="020000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130"/>
    <a:srgbClr val="00000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14" y="5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66636" y="2114978"/>
            <a:ext cx="11154728" cy="6057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600" dirty="0">
                <a:solidFill>
                  <a:srgbClr val="FFFFFF"/>
                </a:solidFill>
                <a:latin typeface="Canva Sans Bold"/>
              </a:rPr>
              <a:t>Group Members</a:t>
            </a:r>
          </a:p>
          <a:p>
            <a:pPr algn="ctr">
              <a:lnSpc>
                <a:spcPts val="7279"/>
              </a:lnSpc>
            </a:pPr>
            <a:endParaRPr lang="en-US" sz="6600" dirty="0">
              <a:solidFill>
                <a:srgbClr val="FFFFFF"/>
              </a:solidFill>
              <a:latin typeface="Canva Sans Bold"/>
            </a:endParaRPr>
          </a:p>
          <a:p>
            <a:pPr marL="421008" lvl="1" algn="just">
              <a:lnSpc>
                <a:spcPts val="5460"/>
              </a:lnSpc>
            </a:pPr>
            <a:r>
              <a:rPr lang="en-US" sz="3900" dirty="0">
                <a:solidFill>
                  <a:srgbClr val="FFFFFF"/>
                </a:solidFill>
                <a:latin typeface="Canva Sans Bold"/>
              </a:rPr>
              <a:t>Saniya Rizwan:                       2023-BCS-079 </a:t>
            </a:r>
          </a:p>
          <a:p>
            <a:pPr marL="421008" lvl="1" algn="just">
              <a:lnSpc>
                <a:spcPts val="5460"/>
              </a:lnSpc>
            </a:pPr>
            <a:r>
              <a:rPr lang="en-US" sz="3900" dirty="0">
                <a:solidFill>
                  <a:srgbClr val="FFFFFF"/>
                </a:solidFill>
                <a:latin typeface="Canva Sans Bold"/>
              </a:rPr>
              <a:t>Kanwal Noor ul Ain:             2023-BCS-049</a:t>
            </a:r>
          </a:p>
          <a:p>
            <a:pPr marL="421008" lvl="1" algn="just">
              <a:lnSpc>
                <a:spcPts val="5460"/>
              </a:lnSpc>
            </a:pPr>
            <a:r>
              <a:rPr lang="en-US" sz="3900" dirty="0" err="1">
                <a:solidFill>
                  <a:srgbClr val="FFFFFF"/>
                </a:solidFill>
                <a:latin typeface="Canva Sans Bold"/>
              </a:rPr>
              <a:t>Hajra</a:t>
            </a:r>
            <a:r>
              <a:rPr lang="en-US" sz="3900" dirty="0">
                <a:solidFill>
                  <a:srgbClr val="FFFFFF"/>
                </a:solidFill>
                <a:latin typeface="Canva Sans Bold"/>
              </a:rPr>
              <a:t> Iftikhar:                        2023- BCS-035</a:t>
            </a:r>
          </a:p>
          <a:p>
            <a:pPr marL="421008" lvl="1" algn="just">
              <a:lnSpc>
                <a:spcPts val="5460"/>
              </a:lnSpc>
            </a:pPr>
            <a:r>
              <a:rPr lang="en-US" sz="3900" dirty="0" err="1">
                <a:solidFill>
                  <a:srgbClr val="FFFFFF"/>
                </a:solidFill>
                <a:latin typeface="Canva Sans Bold"/>
              </a:rPr>
              <a:t>Memona</a:t>
            </a:r>
            <a:r>
              <a:rPr lang="en-US" sz="3900" dirty="0">
                <a:solidFill>
                  <a:srgbClr val="FFFFFF"/>
                </a:solidFill>
                <a:latin typeface="Canva Sans Bold"/>
              </a:rPr>
              <a:t> Bibi:                         2023-BCS-055 </a:t>
            </a:r>
          </a:p>
          <a:p>
            <a:pPr marL="421008" lvl="1" algn="just">
              <a:lnSpc>
                <a:spcPts val="5460"/>
              </a:lnSpc>
            </a:pPr>
            <a:r>
              <a:rPr lang="en-US" sz="3900" dirty="0">
                <a:solidFill>
                  <a:srgbClr val="FFFFFF"/>
                </a:solidFill>
                <a:latin typeface="Canva Sans Bold"/>
              </a:rPr>
              <a:t>Natasha Maryam:                 2023-BCS-068 </a:t>
            </a:r>
          </a:p>
          <a:p>
            <a:pPr marL="421008" lvl="1" algn="just">
              <a:lnSpc>
                <a:spcPts val="5460"/>
              </a:lnSpc>
            </a:pPr>
            <a:r>
              <a:rPr lang="en-US" sz="3900" dirty="0" err="1">
                <a:solidFill>
                  <a:srgbClr val="FFFFFF"/>
                </a:solidFill>
                <a:latin typeface="Canva Sans Bold"/>
              </a:rPr>
              <a:t>Hifsa</a:t>
            </a:r>
            <a:r>
              <a:rPr lang="en-US" sz="3900" dirty="0">
                <a:solidFill>
                  <a:srgbClr val="FFFFFF"/>
                </a:solidFill>
                <a:latin typeface="Canva Sans Bold"/>
              </a:rPr>
              <a:t> Kanwal:                         2023-BCS-039</a:t>
            </a:r>
          </a:p>
        </p:txBody>
      </p:sp>
    </p:spTree>
    <p:extLst>
      <p:ext uri="{BB962C8B-B14F-4D97-AF65-F5344CB8AC3E}">
        <p14:creationId xmlns:p14="http://schemas.microsoft.com/office/powerpoint/2010/main" val="2981516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465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09800" y="3367161"/>
            <a:ext cx="15402722" cy="355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83"/>
              </a:lnSpc>
            </a:pPr>
            <a:r>
              <a:rPr lang="en-US" sz="10130" dirty="0">
                <a:solidFill>
                  <a:srgbClr val="FFFFFF"/>
                </a:solidFill>
                <a:latin typeface="Roboto Bold"/>
              </a:rPr>
              <a:t>Mathematical Problem-Solving Game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0" y="1333500"/>
            <a:ext cx="64770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600" b="1" dirty="0">
                <a:solidFill>
                  <a:srgbClr val="FFFFFF"/>
                </a:solidFill>
                <a:latin typeface="Quire Sans Pro Light" panose="020B0302040400020003" pitchFamily="34" charset="0"/>
              </a:rPr>
              <a:t>BACKGROUND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9340" y="2647296"/>
            <a:ext cx="9610460" cy="67714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An intersection of education, gaming, and programming.</a:t>
            </a:r>
          </a:p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A console-based Mathematical Problem-Solving Game in C.</a:t>
            </a:r>
          </a:p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Designed to test and improve arithmetic skills.</a:t>
            </a:r>
          </a:p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Addressing the decline in fundamental math skills.</a:t>
            </a:r>
          </a:p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Transforming learning into a captivating and interactive experience.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F0F107-34BA-464F-A05D-FBDB587B3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04970" y="1333500"/>
            <a:ext cx="88392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600" b="1" dirty="0">
                <a:solidFill>
                  <a:srgbClr val="FFFFFF"/>
                </a:solidFill>
                <a:latin typeface="Quire Sans Pro Light" panose="020B0302040400020003" pitchFamily="34" charset="0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9340" y="2647296"/>
            <a:ext cx="9610460" cy="5047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Increased dependence on digital tools and calculators</a:t>
            </a:r>
          </a:p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Traditional teaching methods facing challenges in maintaining student engagement</a:t>
            </a:r>
          </a:p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Gap in the development of engagement tools for reinforcing basic skills.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F0F107-34BA-464F-A05D-FBDB587B3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sp>
        <p:nvSpPr>
          <p:cNvPr id="6" name="Freeform 2">
            <a:extLst>
              <a:ext uri="{FF2B5EF4-FFF2-40B4-BE49-F238E27FC236}">
                <a16:creationId xmlns:a16="http://schemas.microsoft.com/office/drawing/2014/main" id="{BFB979A1-1713-42AE-9A5B-AB9D4DB597F2}"/>
              </a:ext>
            </a:extLst>
          </p:cNvPr>
          <p:cNvSpPr/>
          <p:nvPr/>
        </p:nvSpPr>
        <p:spPr>
          <a:xfrm>
            <a:off x="9864212" y="0"/>
            <a:ext cx="8389375" cy="10287000"/>
          </a:xfrm>
          <a:prstGeom prst="rect">
            <a:avLst/>
          </a:prstGeom>
          <a:blipFill>
            <a:blip r:embed="rId3"/>
            <a:stretch>
              <a:fillRect l="-45824" r="-34460"/>
            </a:stretch>
          </a:blipFill>
        </p:spPr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21194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4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0DC877-426D-47F3-98A2-4B7D943A42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2" r="31705"/>
          <a:stretch/>
        </p:blipFill>
        <p:spPr>
          <a:xfrm>
            <a:off x="-1" y="0"/>
            <a:ext cx="8758371" cy="10287000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C1D23C04-5E7E-451D-AB06-A821061F90AE}"/>
              </a:ext>
            </a:extLst>
          </p:cNvPr>
          <p:cNvSpPr txBox="1"/>
          <p:nvPr/>
        </p:nvSpPr>
        <p:spPr>
          <a:xfrm>
            <a:off x="8077200" y="1866900"/>
            <a:ext cx="88392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600" b="1" dirty="0">
                <a:solidFill>
                  <a:srgbClr val="FFFFFF"/>
                </a:solidFill>
                <a:latin typeface="Quire Sans Pro Light" panose="020B0302040400020003" pitchFamily="34" charset="0"/>
              </a:rPr>
              <a:t>INTRODUCTION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F9D3807D-C8C3-4F6E-B736-9AA66C9397EE}"/>
              </a:ext>
            </a:extLst>
          </p:cNvPr>
          <p:cNvSpPr txBox="1"/>
          <p:nvPr/>
        </p:nvSpPr>
        <p:spPr>
          <a:xfrm>
            <a:off x="8758370" y="3104496"/>
            <a:ext cx="9610460" cy="67714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Redefines traditional approach to learning mathematics by transforming it into a captivating and interactive experience.</a:t>
            </a:r>
          </a:p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Combines elements of randomness, arithmetic challenges, and a scoring system</a:t>
            </a:r>
          </a:p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Engages users in solving mathematical problems.</a:t>
            </a:r>
          </a:p>
          <a:p>
            <a:pPr marL="798828" lvl="1" indent="-399414">
              <a:lnSpc>
                <a:spcPct val="2000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</a:rPr>
              <a:t>Provides a continuous and adaptive learning experience.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9126" y="0"/>
            <a:ext cx="18863657" cy="10287000"/>
          </a:xfrm>
          <a:custGeom>
            <a:avLst/>
            <a:gdLst/>
            <a:ahLst/>
            <a:cxnLst/>
            <a:rect l="l" t="t" r="r" b="b"/>
            <a:pathLst>
              <a:path w="18863657" h="10287000">
                <a:moveTo>
                  <a:pt x="0" y="0"/>
                </a:moveTo>
                <a:lnTo>
                  <a:pt x="18863657" y="0"/>
                </a:lnTo>
                <a:lnTo>
                  <a:pt x="188636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73" b="-1573"/>
            </a:stretch>
          </a:blipFill>
        </p:spPr>
        <p:txBody>
          <a:bodyPr/>
          <a:lstStyle/>
          <a:p>
            <a:endParaRPr lang="en-PK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723821"/>
            <a:ext cx="18288000" cy="2272853"/>
            <a:chOff x="0" y="0"/>
            <a:chExt cx="4816593" cy="598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598611"/>
            </a:xfrm>
            <a:custGeom>
              <a:avLst/>
              <a:gdLst/>
              <a:ahLst/>
              <a:cxnLst/>
              <a:rect l="l" t="t" r="r" b="b"/>
              <a:pathLst>
                <a:path w="4816592" h="598611">
                  <a:moveTo>
                    <a:pt x="0" y="0"/>
                  </a:moveTo>
                  <a:lnTo>
                    <a:pt x="4816592" y="0"/>
                  </a:lnTo>
                  <a:lnTo>
                    <a:pt x="4816592" y="598611"/>
                  </a:lnTo>
                  <a:lnTo>
                    <a:pt x="0" y="59861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646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2590800" y="905659"/>
            <a:ext cx="1828800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FFFFFF"/>
                </a:solidFill>
                <a:latin typeface="Canva Sans Bold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2996674"/>
            <a:ext cx="16459200" cy="5769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5126" lvl="1" indent="-432563">
              <a:lnSpc>
                <a:spcPct val="200000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nva Sans" panose="020B0604020202020204" charset="0"/>
              </a:rPr>
              <a:t>Incorporates random number generation for problem creation, arithmetic operations, and distinct levels of difficulty.</a:t>
            </a:r>
          </a:p>
          <a:p>
            <a:pPr marL="865126" lvl="1" indent="-432563">
              <a:lnSpc>
                <a:spcPct val="200000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nva Sans" panose="020B0604020202020204" charset="0"/>
              </a:rPr>
              <a:t>Utilize the ‘rand()’ function along with a seed based on the current time to produce random numbers  with each playthrough</a:t>
            </a:r>
          </a:p>
          <a:p>
            <a:pPr marL="865126" lvl="1" indent="-432563">
              <a:lnSpc>
                <a:spcPct val="200000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nva Sans" panose="020B0604020202020204" charset="0"/>
              </a:rPr>
              <a:t>Difficulty level increases with every correct 5 set of questions and involves random operator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60" t="-1812" r="-2306"/>
            </a:stretch>
          </a:blipFill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2A090-AF96-4497-9C4E-B6924D09CE4B}"/>
              </a:ext>
            </a:extLst>
          </p:cNvPr>
          <p:cNvSpPr/>
          <p:nvPr/>
        </p:nvSpPr>
        <p:spPr>
          <a:xfrm>
            <a:off x="0" y="2433158"/>
            <a:ext cx="18288000" cy="6791433"/>
          </a:xfrm>
          <a:prstGeom prst="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3"/>
          <p:cNvSpPr txBox="1"/>
          <p:nvPr/>
        </p:nvSpPr>
        <p:spPr>
          <a:xfrm>
            <a:off x="1676400" y="3137817"/>
            <a:ext cx="15962999" cy="538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ct val="200000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Canva Sans" panose="020B0604020202020204" charset="0"/>
              </a:rPr>
              <a:t>Prompts the user to solve the generated mathematical question </a:t>
            </a:r>
          </a:p>
          <a:p>
            <a:pPr marL="734059" lvl="1" indent="-367030">
              <a:lnSpc>
                <a:spcPct val="200000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Canva Sans" panose="020B0604020202020204" charset="0"/>
              </a:rPr>
              <a:t>Continues until the user decides to exit </a:t>
            </a:r>
          </a:p>
          <a:p>
            <a:pPr marL="734059" lvl="1" indent="-367030">
              <a:lnSpc>
                <a:spcPct val="200000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Canva Sans" panose="020B0604020202020204" charset="0"/>
              </a:rPr>
              <a:t>The score is incremented for each correct answer</a:t>
            </a:r>
          </a:p>
          <a:p>
            <a:pPr marL="734059" lvl="1" indent="-367030">
              <a:lnSpc>
                <a:spcPct val="200000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Canva Sans" panose="020B0604020202020204" charset="0"/>
              </a:rPr>
              <a:t>Incorrect answer prompts the display of correct solution</a:t>
            </a:r>
          </a:p>
          <a:p>
            <a:pPr marL="734059" lvl="1" indent="-367030">
              <a:lnSpc>
                <a:spcPct val="200000"/>
              </a:lnSpc>
              <a:buFont typeface="Arial"/>
              <a:buChar char="•"/>
            </a:pPr>
            <a:endParaRPr lang="en-US" sz="3600" dirty="0">
              <a:solidFill>
                <a:srgbClr val="FFFFFF"/>
              </a:solidFill>
              <a:latin typeface="Canva Sans" panose="020B060402020202020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3505200" y="1062409"/>
            <a:ext cx="17259300" cy="100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FFFFFF"/>
                </a:solidFill>
                <a:latin typeface="Canva Sans" panose="020B0604020202020204" charset="0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77126" cy="10287000"/>
          </a:xfrm>
          <a:custGeom>
            <a:avLst/>
            <a:gdLst/>
            <a:ahLst/>
            <a:cxnLst/>
            <a:rect l="l" t="t" r="r" b="b"/>
            <a:pathLst>
              <a:path w="18477126" h="10287000">
                <a:moveTo>
                  <a:pt x="0" y="0"/>
                </a:moveTo>
                <a:lnTo>
                  <a:pt x="18477126" y="0"/>
                </a:lnTo>
                <a:lnTo>
                  <a:pt x="184771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7" b="-51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1600" y="2623985"/>
            <a:ext cx="14997904" cy="7209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>
              <a:lnSpc>
                <a:spcPct val="200000"/>
              </a:lnSpc>
              <a:buFont typeface="Arial"/>
              <a:buChar char="•"/>
            </a:pPr>
            <a:r>
              <a:rPr lang="en-US" sz="3999" dirty="0">
                <a:solidFill>
                  <a:srgbClr val="FFFFFF"/>
                </a:solidFill>
                <a:latin typeface="Canva Sans" panose="020B0604020202020204" charset="0"/>
              </a:rPr>
              <a:t>The game is a creative solution to address the declining mathematical proficiency </a:t>
            </a:r>
          </a:p>
          <a:p>
            <a:pPr marL="863596" lvl="1" indent="-431798">
              <a:lnSpc>
                <a:spcPct val="200000"/>
              </a:lnSpc>
              <a:buFont typeface="Arial"/>
              <a:buChar char="•"/>
            </a:pPr>
            <a:r>
              <a:rPr lang="en-US" sz="3999" dirty="0">
                <a:solidFill>
                  <a:srgbClr val="FFFFFF"/>
                </a:solidFill>
                <a:latin typeface="Canva Sans" panose="020B0604020202020204" charset="0"/>
              </a:rPr>
              <a:t>Leverages principles of gamification, and transforms learning into an interactive experience</a:t>
            </a:r>
          </a:p>
          <a:p>
            <a:pPr marL="863596" lvl="1" indent="-431798">
              <a:lnSpc>
                <a:spcPct val="200000"/>
              </a:lnSpc>
              <a:buFont typeface="Arial"/>
              <a:buChar char="•"/>
            </a:pPr>
            <a:r>
              <a:rPr lang="en-US" sz="3999" dirty="0">
                <a:solidFill>
                  <a:srgbClr val="FFFFFF"/>
                </a:solidFill>
                <a:latin typeface="Canva Sans" panose="020B0604020202020204" charset="0"/>
              </a:rPr>
              <a:t>Utilizes adaptive difficulty level to ensure users are consistently challenged.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057400" y="1390540"/>
            <a:ext cx="14954036" cy="118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 dirty="0">
                <a:solidFill>
                  <a:srgbClr val="FFFFFF"/>
                </a:solidFill>
                <a:latin typeface="Canva Sans" panose="020B0604020202020204" charset="0"/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E62F87-D9AC-4BCB-AFDD-A5D45BF3AD9B}"/>
              </a:ext>
            </a:extLst>
          </p:cNvPr>
          <p:cNvSpPr/>
          <p:nvPr/>
        </p:nvSpPr>
        <p:spPr>
          <a:xfrm>
            <a:off x="0" y="-1"/>
            <a:ext cx="18288000" cy="10287001"/>
          </a:xfrm>
          <a:prstGeom prst="rect">
            <a:avLst/>
          </a:prstGeom>
          <a:solidFill>
            <a:srgbClr val="1C21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54C55F-4A9B-4C12-93A4-6A340433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-1"/>
            <a:ext cx="13030200" cy="1028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74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D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566288" cy="10287000"/>
          </a:xfrm>
          <a:custGeom>
            <a:avLst/>
            <a:gdLst/>
            <a:ahLst/>
            <a:cxnLst/>
            <a:rect l="l" t="t" r="r" b="b"/>
            <a:pathLst>
              <a:path w="18566288" h="10287000">
                <a:moveTo>
                  <a:pt x="0" y="0"/>
                </a:moveTo>
                <a:lnTo>
                  <a:pt x="18566288" y="0"/>
                </a:lnTo>
                <a:lnTo>
                  <a:pt x="185662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23" b="-10123"/>
            </a:stretch>
          </a:blipFill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942D73-744B-4BD9-BA8B-61D89FF57319}"/>
              </a:ext>
            </a:extLst>
          </p:cNvPr>
          <p:cNvSpPr/>
          <p:nvPr/>
        </p:nvSpPr>
        <p:spPr>
          <a:xfrm>
            <a:off x="0" y="0"/>
            <a:ext cx="18592800" cy="10287000"/>
          </a:xfrm>
          <a:prstGeom prst="rect">
            <a:avLst/>
          </a:prstGeom>
          <a:solidFill>
            <a:srgbClr val="000000">
              <a:alpha val="47059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A8DCC6-6E6C-49A4-8238-436E2B69AE34}"/>
              </a:ext>
            </a:extLst>
          </p:cNvPr>
          <p:cNvSpPr/>
          <p:nvPr/>
        </p:nvSpPr>
        <p:spPr>
          <a:xfrm>
            <a:off x="0" y="1638300"/>
            <a:ext cx="18592800" cy="7086600"/>
          </a:xfrm>
          <a:prstGeom prst="rect">
            <a:avLst/>
          </a:prstGeom>
          <a:solidFill>
            <a:srgbClr val="000000">
              <a:alpha val="47059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D31091-36A2-44A2-B289-9830A33A99E2}"/>
              </a:ext>
            </a:extLst>
          </p:cNvPr>
          <p:cNvSpPr/>
          <p:nvPr/>
        </p:nvSpPr>
        <p:spPr>
          <a:xfrm>
            <a:off x="0" y="1638300"/>
            <a:ext cx="18592800" cy="7086600"/>
          </a:xfrm>
          <a:prstGeom prst="rect">
            <a:avLst/>
          </a:prstGeom>
          <a:solidFill>
            <a:srgbClr val="000000">
              <a:alpha val="47059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atin typeface="Canva Sans" panose="020B0604020202020204" charset="0"/>
              </a:rPr>
              <a:t>THANK</a:t>
            </a:r>
          </a:p>
          <a:p>
            <a:pPr algn="ctr"/>
            <a:r>
              <a:rPr lang="en-US" sz="11500" b="1" dirty="0">
                <a:latin typeface="Canva Sans" panose="020B0604020202020204" charset="0"/>
              </a:rPr>
              <a:t>YOU</a:t>
            </a:r>
            <a:endParaRPr lang="en-PK" sz="11500" b="1" dirty="0">
              <a:latin typeface="Canva Sans" panose="020B06040202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60" t="-1812" r="-2306"/>
            </a:stretch>
          </a:blipFill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2A090-AF96-4497-9C4E-B6924D09CE4B}"/>
              </a:ext>
            </a:extLst>
          </p:cNvPr>
          <p:cNvSpPr/>
          <p:nvPr/>
        </p:nvSpPr>
        <p:spPr>
          <a:xfrm>
            <a:off x="0" y="2433158"/>
            <a:ext cx="18288000" cy="6791433"/>
          </a:xfrm>
          <a:prstGeom prst="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-5334000" y="1019918"/>
            <a:ext cx="17259300" cy="100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FFFFFF"/>
                </a:solidFill>
                <a:latin typeface="Canva Sans" panose="020B0604020202020204" charset="0"/>
              </a:rPr>
              <a:t>REFERENCES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BDE5457-BF00-49EF-93B8-787A63E36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63723"/>
            <a:ext cx="165354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Martins, V., de Almeida Souza </a:t>
            </a:r>
            <a:r>
              <a:rPr kumimoji="0" lang="en-US" altLang="en-PK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Concilio</a:t>
            </a:r>
            <a:r>
              <a:rPr kumimoji="0" lang="en-US" altLang="en-PK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, I. &amp; de Paiva </a:t>
            </a:r>
            <a:r>
              <a:rPr kumimoji="0" lang="en-US" altLang="en-PK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Guimarães</a:t>
            </a:r>
            <a:r>
              <a:rPr kumimoji="0" lang="en-US" altLang="en-PK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, M., 2018. Problem based learning associated to the development of games for programming teaching. </a:t>
            </a:r>
            <a:r>
              <a:rPr kumimoji="0" lang="en-US" altLang="en-PK" sz="3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Computer Applications in Engineering Education, </a:t>
            </a:r>
            <a:r>
              <a:rPr kumimoji="0" lang="en-US" altLang="en-PK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26(5), pp. 1577-1589.</a:t>
            </a:r>
            <a:endParaRPr kumimoji="0" lang="en-US" altLang="en-PK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nva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Seidametova</a:t>
            </a:r>
            <a:r>
              <a:rPr kumimoji="0" lang="en-US" altLang="en-PK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, Z., 2020. Combining Programming and Mathematics through Computer Simulation Problems. </a:t>
            </a:r>
            <a:r>
              <a:rPr kumimoji="0" lang="en-US" altLang="en-PK" sz="3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ICTERI Workshops, </a:t>
            </a:r>
            <a:r>
              <a:rPr kumimoji="0" lang="en-US" altLang="en-PK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Volume 2732, pp. 869-880.</a:t>
            </a:r>
            <a:endParaRPr kumimoji="0" lang="en-US" altLang="en-PK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nva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PK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nva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424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346</Words>
  <Application>Microsoft Office PowerPoint</Application>
  <PresentationFormat>Custom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 Bold</vt:lpstr>
      <vt:lpstr>Arial</vt:lpstr>
      <vt:lpstr>Calibri</vt:lpstr>
      <vt:lpstr>Canva Sans Bold</vt:lpstr>
      <vt:lpstr>Canva Sans</vt:lpstr>
      <vt:lpstr>Quire Sans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Mathematical Problem-Solving Game</dc:title>
  <dc:creator>S U L E M A N</dc:creator>
  <cp:lastModifiedBy>saniya rizwan</cp:lastModifiedBy>
  <cp:revision>15</cp:revision>
  <dcterms:created xsi:type="dcterms:W3CDTF">2006-08-16T00:00:00Z</dcterms:created>
  <dcterms:modified xsi:type="dcterms:W3CDTF">2024-01-11T13:20:37Z</dcterms:modified>
  <dc:identifier>DAF5j4YK5VE</dc:identifier>
</cp:coreProperties>
</file>